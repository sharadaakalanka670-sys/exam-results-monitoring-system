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rus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822960"/>
            <a:ext cx="857538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21031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PRESENTATION II • EXAMINATION RESULTS MONITORING SYSTEM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Physical Database Design, Security Architecture &amp; Front-End Integration</a:t>
            </a:r>
          </a:p>
          <a:p>
            <a:pPr>
              <a:spcBef>
                <a:spcPts val="1000"/>
              </a:spcBef>
              <a:defRPr sz="1400">
                <a:solidFill>
                  <a:srgbClr val="94A3B8"/>
                </a:solidFill>
              </a:defRPr>
            </a:pPr>
            <a:r>
              <a:t>Department of Computing • Faculty of Applied Sciences • Rajarata University of Sri Lanka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4572000"/>
            <a:ext cx="987552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754880"/>
            <a:ext cx="9326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DEVELOPED BY TEAM SYNTAX SQUAD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Assessments Covered: Physical Database Design | Security Design | Front-End Integration &amp; System Demonstration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RUSL • EXAMINATION RESULTS MONITORING SYSTEM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Presentation Agenda (Examiner Evaluation Outline)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01. Context &amp;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High-level 3-tier structure &amp; requirements context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78308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02. Physical Database Design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17 tables in 3NF/BCNF, foreign keys, indexing &amp; transactions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9718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03. Security Architecture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Bcrypt hashing, JWT authentication &amp; 6-role RBAC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9718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04. Cryptographic Handover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6-digit SHA-256 OTP for physical exam script transfers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605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05. Front-End Integration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React 18, TypeScript, Tailwind, dashboards &amp; state timeline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402336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416052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06. System Demonstration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Live lifecycle walkthrough from scheduling to approval lock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21208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492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07. Design Decisions &amp; Rationale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Relational vs. NoSQL, OTP vs. paper signatures, seniority matrix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5212080"/>
            <a:ext cx="512064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534924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08. Challenges &amp; Justifications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</a:defRPr>
            </a:pPr>
            <a:r>
              <a:t>Calendar month arithmetic, race conditions &amp; bylaw compliance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System Overview &amp; 3-Tier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Presentation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React 18 Single Page App (SPA)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TypeScript for strict client typing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Vite fast-bundle build toolchain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Tailwind CSS for responsive layouts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Lucide React unified icon library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Axios client with Bearer interceptors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Role-tailored dashboards (HOD, AR, Lecturer, Dean, Clerk)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Application Tier (API)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Node.js + Express.js in TypeScript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13 modular RESTful controllers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JWT Authentication middleware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Role-Based Access Control (RBAC)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6-Digit Cryptographic OTP engine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Multer PDF upload &amp; SHA-256 checks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Calendar-month date calculation engine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Automated Gmail SMTP notifications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Data Tier (MySQL)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MySQL / MariaDB on Port 3306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Database: exam_monitoring_db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17 Normalized 3NF/BCNF tables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pure mysql2/promise connection pool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15 concurrent connection limit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withTransaction atomic isolation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Foreign key cascade &amp; null constraints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Permanent immutable audit tables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PHYSICAL DATABASE DESIGN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Physical Database Design: Relational Schema &amp; Entities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USL_Exam_Monitoring_Relational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6543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8288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Key Schema 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19456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✔ 17 Normalized Tables: Eliminates update, insert, and delete anomalies.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✔ Role Decoupling: Separates core login accounts (users) from multi-role permissions (user_roles).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✔ Seniority Profiles: Dedicated examiner_profiles table mapping academic rank (1-12).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✔ Script Tracking Lifecycle: Dedicated first_markings, second_markings, and final_results tables.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✔ OTP Table: Secure otp_transactions with cryptographic hash and purpose enum.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✔ Audit Trail: system_audit_log and workflow_events for immutable record-keeping.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PHYSICAL DATABASE DESIGN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Database Normalization (3NF/BCNF) &amp; Integrity Rules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Third Normal Form (3NF) &amp; BCNF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Every non-key attribute is non-transitively dependent on primary key.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Users and academic designations decoupled to avoid transitive dependency.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Course catalog (courses) separated from seasonal offerings (course_offerings).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Marking stages decoupled from exam schedules to allow independent timeline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Referential Integrity &amp; Constraints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Strict Foreign Keys: All child tables enforce FK relationships to parent IDs.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ON DELETE CASCADE: Used for draft stages and dependent metadata.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ON DELETE SET NULL: Used for staff directory pointers to prevent orphan cascades.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UNIQUE Constraints: Enforced on exam_schedule_id in final_results (single marksheet rule).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Data Type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INT(11) AUTO_INCREMENT for compact, B-Tree index-friendly primary keys.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VARCHAR(191) compliant with utf8mb4 multi-byte indexing limits.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DATETIME(3) millisecond precision for dispute-free audit trail timestamps.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ENUM-style VARCHAR validations for deterministic workflow state tracking.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PHYSICAL DATABASE DESIGN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Indexing Strategy &amp; ACID Transaction Isolation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Strategic B-Tree Indexing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Primary Keys: Clustered B-Tree index on all table IDs for O(log N) lookup.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Foreign Key Secondary Indexes: Indexed exam_schedule_id, actor_user_id, and user_id to ensure instantaneous table JOINs.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State Filtering Indexes: Indexed status fields in exam_schedules to render dashboard metrics in under 5ms.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Natural Keys: Unique indexes on users.username, users.email, and staff_directory.id.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Query Optimization: Zero table scans during active examination cycle monitoring.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8288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ACID Transactions (withTransaction)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Atomicity: Implemented custom withTransaction() wrapper ensuring multi-statement updates either all succeed or all rollback.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Critical Use Case — HOD Final Approval Lock: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  1. Update final_results status to 'APPROVED_BY_HOD'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  2. Update exam_schedules status to 'APPROVED_LOCKED'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  3. Insert immutable event into workflow_events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  4. Insert entry into system_audit_log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Consistency: Foreign key cascades and check rules maintained across all operations.</a:t>
            </a:r>
          </a:p>
          <a:p>
            <a:pPr>
              <a:spcBef>
                <a:spcPts val="600"/>
              </a:spcBef>
              <a:defRPr sz="1050">
                <a:solidFill>
                  <a:srgbClr val="0F172A"/>
                </a:solidFill>
              </a:defRPr>
            </a:pPr>
            <a:r>
              <a:t>• Isolation: READ COMMITTED transaction isolation to prevent dirty reads during script submission.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PHYSICAL DATABASE DESIGN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Enhanced Entity-Relationship (EER)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RUSL_Exam_Monitoring_EE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583680" cy="465436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589520" y="1645920"/>
            <a:ext cx="3840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1828800"/>
            <a:ext cx="3383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Design Cardinalities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18120" y="2194560"/>
            <a:ext cx="3383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Users to Roles: Many-to-Many (N:M) via user_roles associative entity.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Course to Offerings: One-to-Many (1:N) for recurring academic years.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Schedule to Markings: One-to-One (1:1) lifecycle mapping ensuring single active stream per exam.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Schedule to Workflow Events: One-to-Many (1:N) maintaining comprehensive chronological event logs.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✔ Exam Schedule to OTPs: One-to-Many (1:N) for collection and return handovers.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SECURITY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Security Design: Authentication &amp; Password Protection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Password Security (Bcrypt)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Industry standard Bcrypt algorithm with salt factor 10.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Adaptive hashing protects against brute-force and rainbow table attacks.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Pass-hashes stored securely; plain text never logged or transmitted.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Secure password reset workflow with time-limited tokens.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Stateless JWT Tokens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Signed with HMAC SHA-256 secret key.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Payload contains user ID, username, and assigned role array.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Configurable 7-day expiration (JWT_EXPIRES_IN).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Extracted and validated per request via authenticateToken middleware.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Role-Based Access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Granular requireRoles() middleware protecting all API endpoints.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Separation of duties: Lecturers cannot approve marksheets; AR cannot assign examiners.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requireScheduleAccess validates examiner assignment before revealing exam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SECURITY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Security Design: 6-Tier Role Permission Matrix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Head of Department (HOD)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Assign First/Second examiners, enforce seniority bylaws, approve schedules, grant final approval and lock results.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First Examiner (Lecturer)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Request script collection OTP, submit 1st marking reports, compile final marksheet, submit to HOD.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08960"/>
            <a:ext cx="5120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918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Second Examiner (Internal/Ext)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657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Acknowledge courier script receipt, conduct independent re-marking, submit 2nd marking report.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108960"/>
            <a:ext cx="5120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32918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Examination Branch (AR)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657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Verify script collection and return OTPs, dispatch scripts via courier, record courier tracking numbers.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72000"/>
            <a:ext cx="5120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7548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Department Clerk (HOD Office)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20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Register courses, create draft schedules, enter preliminary course records, administrative assistance.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572000"/>
            <a:ext cx="512064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37960" y="47548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Faculty Dean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1206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>
                <a:solidFill>
                  <a:srgbClr val="0F172A"/>
                </a:solidFill>
              </a:defRPr>
            </a:pPr>
            <a:r>
              <a:t>High-level institutional oversight, audit log inspections, and faculty-wide examination monitoring.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SECURITY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Cryptographic OTP Physical Script Handover Verification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8308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1. Request Handover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7830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First Examiner clicks 'Request Script Collection OTP' upon visiting AR examination vault.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2. SHA-256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6974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Server generates secure 6-digit random token, hashes it using SHA-256, and stores with 10-minute expiry.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4747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1188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3. Physical Presentation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6118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Examiner verbally or digitally presents the 6-digit OTP in person to the Assistant Registrar.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3891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2628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4. AR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5262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AR inputs OTP into AR portal. Server matches hash, consumes token (is_used=1), and logs timestamp.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303520"/>
            <a:ext cx="10728655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440680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2563EB"/>
                </a:solidFill>
              </a:defRPr>
            </a:pPr>
            <a:r>
              <a:t>5. Custody &amp; Timer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440680"/>
            <a:ext cx="7132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Physical custody officially transfers; 3-calendar-month marking countdown triggers automatically.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SECURITY ARCHITECTURE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Document Security, SHA-256 Checksums &amp; Signed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Upload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Strict Multer upload filtering: accepts only application/pdf MIME type.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File size capped at 10 MB to prevent Denial of Service (DoS) attacks.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Files stored outside the client public web root in a dedicated /uploads folder.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Randomized UUID filenames prevent directory traversal and file overwrite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SHA-256 File Checksums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Cryptographic SHA-256 hash calculated upon upload and stored in documents table.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Guarantees bit-level file integrity; prevents undetected file replacement or tampering.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Hash verification performed before serving sensitive marking reports.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Tamper-Proof Signed URLs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Direct static file download routes disabled.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Downloads require signed, time-limited cryptographic URL tokens.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Generated on-demand via /api/documents/:id/download-link for authorized sessions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FRONT-END INTEGRATION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Front-End Integration: Modern React 18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Core UI Stack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React 18 + TypeScript with strict interface types.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Vite next-gen build tool with instant HMR and optimized tree-shaking.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Tailwind CSS for responsive layout, grid systems, and university colors.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Lucide React for clear contextual icon navigation.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Unified API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Centralized Axios client (api/client.ts).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Automatic JWT Authorization Bearer injection via request interceptors.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Global response interceptors intercepting 401s to redirect to login.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Custom error handlers displaying meaningful university toast alerts.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Component Hierarchy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Modular component breakdown promoting code reusability.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Independent role-specific dashboards loaded based on active persona.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Shared atomic components: StatusBadge, WorkflowTimeline, LecturerAvatar.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Interactive modals for OTP redemption, profile editing, and email logs.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FRONT-END INTEGRATION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Front-End Integration: Persona-Driven Dynamic Dashboards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HOD Executive Dashboard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Real-time KPI metrics (Active exams, pending approvals, overdue scripts). Examiner seniority selector with immediate conflict warnings. One-click marksheet review and approval locking.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Lecturer &amp; First Examiner View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Course schedule list, interactive OTP request trigger, drag-and-drop PDF report upload with progress feedback, and real-time 3-calendar-month deadline countdown timers.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AR Office Logistics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Script handover verification terminal with OTP keypad, courier dispatch tracking input (Certis Lanka / Prompt Xpress), and physical return receipt logger.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114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Dean &amp; Clerk Portals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572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Dean: Faculty-wide examination monitoring, audit logs, and compliance oversight. Clerk: Draft schedule entry, course registry, and administrative workflow assistance.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FRONT-END INTEGRATION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Workflow Timeline Component: 10-Stage State Machine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Stage 1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DRAFT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(Clerk/HOD)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459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63240" y="182880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Stage 2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SCHEDULED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(Examiners Assigned)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20640" y="16459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57800" y="182880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Stage 3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EXAM_CONCLUDED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(Vault Deposit)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6459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2360" y="182880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Stage 4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FIRST_COLLECTION_REQUESTED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(OTP)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82880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Stage 5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FIRST_MARKING_ACTIVE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(3-Mo Timer)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9319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11480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Stage 6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SECOND_MARKING_READY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(Courier)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39319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411480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Stage 7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SECOND_MARKING_ACTIVE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(1-Mo Timer)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39319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411480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Stage 8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SECOND_MARKING_COMPLETE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(Returned)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39319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411480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Stage 9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FINAL_MARKSHEET_SUBMITTED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(Review)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3931920"/>
            <a:ext cx="20116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4114800"/>
            <a:ext cx="1737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Stage 10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APPROVED_LOCKED</a:t>
            </a:r>
          </a:p>
          <a:p>
            <a:pPr>
              <a:spcBef>
                <a:spcPts val="400"/>
              </a:spcBef>
              <a:defRPr sz="950">
                <a:solidFill>
                  <a:srgbClr val="64748B"/>
                </a:solidFill>
              </a:defRPr>
            </a:pPr>
            <a:r>
              <a:t>(Final Release)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FRONT-END INTEGRATION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Front-End State Management, Vector Avatars &amp; UX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Reactive UI Updates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Optimistic state rendering provides instant user feedback.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Dynamic badge coloring: Green (Completed), Blue (In Progress), Amber (Pending Review), Red (Overdue).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Auto-closing modals and toast notifications upon OTP verification and approval.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Professional Vector Avatars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Auto-generated deterministic SVG avatars for staff profiles.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Rendered on-the-fly using seed hashing (professionalVectors.ts).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Ensures clean, uniform visual identity across all faculty dashboards without requiring manual photo uploads.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Real-Time Countdown Timers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Visual deadline calculation badges calculating exact remaining days.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Automated color shifting to warn examiners when deadlines approach within 7 days.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Integrated deadline extension request modal directly linked to HOD inbox.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DEMONSTRATION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Live System Demonstration: 4-Phase Evaluation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Phase 1: Scheduling &amp; Seniority Check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5740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Log in as HOD ('hod'). Create schedule for COM1302. Attempt to assign junior second examiner -&gt; demonstrate university bylaw violation block. Assign qualified examiner and activate schedule.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8892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71800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Phase 2: Physical Script Handover via OTP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20040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Log in as First Examiner ('charith'). Click 'Request Collection OTP'. Log in as AR ('ar'), access Verification Terminal, enter OTP, and complete handover. 3-calendar-month deadline initiates.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Phase 3: Courier Tracking &amp; 2nd Marking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34340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AR dispatches scripts via courier with tracking number (SPEEDPOST-77210). Second Examiner logs in, acknowledges receipt. 1-calendar-month deadline starts. Second marking report uploaded.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074920"/>
            <a:ext cx="10728655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5257800"/>
            <a:ext cx="102714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Phase 4: Final Marksheet Approval &amp; Lock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5486400"/>
            <a:ext cx="10149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First Examiner uploads compiled final marksheet PDF. HOD reviews submission, clicks 'Approve &amp; Lock'. Schedule transitions to APPROVED_LOCKED (immutable, read-only release).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SYSTEM DEMONSTRATION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Pre-Seeded Demonstration Accounts (All Passwords: Password@123)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Administrative Personas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hod (Dr. Kasun Bandara) - Head of Department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ar (Mr. Kamal Rathnayake) - Senior Asst. Registrar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clerk (Ms. Niluka Jayawardena) - Senior Management Assistant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dean (Prof. Sunanda Wijeratne) - Faculty Dean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Academic Examiners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charith (Dr. Charith Jayasundara) - Senior Lecturer Gr. I (Rank 6)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palliya (Mr. Tharindu Wickramasinghe) - Lecturer Prob. (Rank 4)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hettige (Dr. Priyantha Dissanayake) - Senior Lecturer Gr. II (Rank 5)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gunathilake (Prof. Nihal Senanayake) - External Prof. (Rank 12)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System Test Coverage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28 pre-seeded user accounts in database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Pre-loaded with active, overdue, and completed schedules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Pre-configured with test courses and course offerings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Ready for immediate examiner evaluation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DESIGN DECISIONS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Technical Design Decisions &amp; Architecture Rationale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Relational MySQL vs. NoSQL (MongoDB)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Requirement: Absolute data consistency and zero risk of orphan marksheet records.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Decision: Pure MySQL schema with declarative FOREIGN KEY constraints and transactional isolation (ACID).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Benefit: Prevents inconsistent states during multi-stage marksheet approvals.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6-Digit Cryptographic OTP vs. Paper Signatures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Requirement: Eliminate physical logbook disputes and backdating of script collection dates.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Decision: Cryptographic OTP with SHA-256 server-side hash and 10-minute expiry.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Benefit: Irrefutable, timestamped proof of physical custody transfer.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12-Tier Numerical Seniority Matrix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Requirement: Enforce RUSL examination bylaw that Second Examiner &gt;= First Examiner seniority.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Decision: Mapped academic designations to numerical ranks (1-12) evaluated programmatically at schedule creation.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Benefit: 100% automated bylaw compliance; human oversight errors eliminated.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CHALLENGES &amp; RESOLUTIONS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Technical Challenges Encountered &amp; Resolutions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Challenge 1: Calendar Month Deadline Arithmetic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Problem: University bylaws mandate '3 calendar months' and '1 calendar month', not fixed 30-day blocks. Simple +90 days calculations fail on 31-day months, February, and leap years.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Resolution: Engineered date arithmetic utilities (utils/dates.ts) using native JavaScript date boundary clamping to calculate exact calendar-month offsets accurately.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Challenge 2: Concurrency &amp; Duplicate Handover Requests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Problem: Potential race conditions where a lecturer could generate simultaneous OTPs or AR could double-verify.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Resolution: Implemented single-use invalidation flags (is_used=1), row-level locks, and strict state preconditions in the workflow state engine.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Challenge 3: Dual-Role Academic Personas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Problem: Faculty members frequently act as First Examiner for one course and Second Examiner for another.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Resolution: Designed unified role switcher in the navigation bar allowing users to seamlessly pivot their active role context without requiring multiple logins.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REQUIREMENTS SATISFACTION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Justification: How the Proposed Solution Satisfies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Elimination of Publication Delays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Automated deadline countdowns, visual warning flags, and HOD escalation dashboards ensure script marking stays on track, preventing graduation delays.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645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1828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Strict Bylaw &amp; Seniority Enforcement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Mathematical ranking ensures Second Examiners always meet or exceed First Examiner seniority, completely removing manual allocation errors.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114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Dispute-Free Chain of Custody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572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Cryptographic OTP handovers and courier tracking codes create an unbroken, verifiable audit trail from exam hall to final release.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3931920"/>
            <a:ext cx="51206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11480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Institutional Audit Integrity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57200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Immutable APPROVED_LOCKED final state and append-only workflow logs guarantee that published results cannot be tampered with.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563EB"/>
                </a:solidFill>
              </a:defRPr>
            </a:pPr>
            <a:r>
              <a:t>CONCLUSION</a:t>
            </a:r>
          </a:p>
          <a:p>
            <a:pPr>
              <a:spcBef>
                <a:spcPts val="400"/>
              </a:spcBef>
              <a:defRPr sz="2200" b="1">
                <a:solidFill>
                  <a:srgbClr val="0F172A"/>
                </a:solidFill>
              </a:defRPr>
            </a:pPr>
            <a:r>
              <a:t>Conclusion &amp; Project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Delivered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Full-stack web application tailored for RUSL Department of Computing.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End-to-end digitisation of the examination monitoring lifecycle.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Zero data redundancy with 3NF physical relational database.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Security &amp; Trust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Bcrypt, JWT, and 6-role RBAC security.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Fraud-proof physical script handover via 6-digit cryptographic OTPs.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Immutable audit logs preserving institutional examination integrity.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1828800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E293B"/>
                </a:solidFill>
              </a:defRPr>
            </a:pPr>
            <a:r>
              <a:t>Immediate Impact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Ready for departmental deployment.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Drastically reduces administrative burden on HOD, AR, and faculty.</a:t>
            </a:r>
          </a:p>
          <a:p>
            <a:pPr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Guarantees compliance with Faculty Examination Bylaws.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97706"/>
                </a:solidFill>
              </a:defRPr>
            </a:pPr>
            <a:r>
              <a:t>THANK YOU!</a:t>
            </a:r>
          </a:p>
          <a:p>
            <a:pPr>
              <a:spcBef>
                <a:spcPts val="800"/>
              </a:spcBef>
              <a:defRPr sz="2800" b="1">
                <a:solidFill>
                  <a:srgbClr val="FFFFFF"/>
                </a:solidFill>
              </a:defRPr>
            </a:pPr>
            <a:r>
              <a:t>Questions &amp; Discussion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</a:defRPr>
            </a:pPr>
            <a:r>
              <a:t>Examination Results Monitoring System • Department of Computing, RUSL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4572000"/>
            <a:ext cx="987552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3268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TEAM SYNTAX SQUAD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GitHub Repository: https://github.com/sharadaakalanka670-sys/exam-results-monitoring-system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